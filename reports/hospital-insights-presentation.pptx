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6858000" cy="9144000"/>
  <p:embeddedFontLst>
    <p:embeddedFont>
      <p:font typeface="Gill Sans" panose="020B0502020104020203"/>
      <p:regular r:id="rId54"/>
    </p:embeddedFont>
    <p:embeddedFont>
      <p:font typeface="Calibri" panose="020F0502020204030204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font" Target="fonts/font2.fntdata"/><Relationship Id="rId54" Type="http://schemas.openxmlformats.org/officeDocument/2006/relationships/font" Target="fonts/font1.fntdata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abdab7f35_0_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g37abdab7f35_0_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aecea9243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g37aecea9243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1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Google Shape;225;p1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2" name="Google Shape;232;p1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1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1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2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2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2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2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1" name="Google Shape;271;p2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p2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4" name="Google Shape;284;p2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p2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2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2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3" name="Google Shape;303;p2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0" name="Google Shape;310;p2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3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3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4" name="Google Shape;324;p3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3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1" name="Google Shape;331;p3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6" name="Google Shape;336;p3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3" name="Google Shape;343;p3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9" name="Google Shape;349;p3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6" name="Google Shape;356;p3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3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3" name="Google Shape;363;p3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8" name="Google Shape;368;p3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3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1" name="Google Shape;381;p4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7" name="Google Shape;387;p4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3" name="Google Shape;393;p4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9" name="Google Shape;399;p4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5" name="Google Shape;405;p4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4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5" name="Google Shape;415;p4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7"/>
          <p:cNvSpPr txBox="1"/>
          <p:nvPr>
            <p:ph type="ctrTitle"/>
          </p:nvPr>
        </p:nvSpPr>
        <p:spPr>
          <a:xfrm>
            <a:off x="457200" y="1070901"/>
            <a:ext cx="11265407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 panose="020B0502020104020203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7"/>
          <p:cNvSpPr/>
          <p:nvPr>
            <p:ph type="pic" idx="2"/>
          </p:nvPr>
        </p:nvSpPr>
        <p:spPr>
          <a:xfrm>
            <a:off x="448055" y="3103684"/>
            <a:ext cx="11274551" cy="32879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8"/>
          <p:cNvSpPr txBox="1"/>
          <p:nvPr>
            <p:ph type="ctrTitle"/>
          </p:nvPr>
        </p:nvSpPr>
        <p:spPr>
          <a:xfrm>
            <a:off x="1524000" y="1143000"/>
            <a:ext cx="9144000" cy="2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Gill Sans" panose="020B0502020104020203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8"/>
          <p:cNvSpPr txBox="1"/>
          <p:nvPr>
            <p:ph type="subTitle" idx="1"/>
          </p:nvPr>
        </p:nvSpPr>
        <p:spPr>
          <a:xfrm>
            <a:off x="1524000" y="3799840"/>
            <a:ext cx="914400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1656"/>
              <a:buNone/>
              <a:defRPr sz="1800"/>
            </a:lvl1pPr>
            <a:lvl2pPr lvl="1" algn="ctr">
              <a:spcBef>
                <a:spcPts val="600"/>
              </a:spcBef>
              <a:spcAft>
                <a:spcPts val="0"/>
              </a:spcAft>
              <a:buSzPts val="1840"/>
              <a:buNone/>
              <a:defRPr sz="2000"/>
            </a:lvl2pPr>
            <a:lvl3pPr lvl="2" algn="ctr">
              <a:spcBef>
                <a:spcPts val="600"/>
              </a:spcBef>
              <a:spcAft>
                <a:spcPts val="0"/>
              </a:spcAft>
              <a:buSzPts val="1656"/>
              <a:buNone/>
              <a:defRPr sz="1800"/>
            </a:lvl3pPr>
            <a:lvl4pPr lvl="3" algn="ctr">
              <a:spcBef>
                <a:spcPts val="600"/>
              </a:spcBef>
              <a:spcAft>
                <a:spcPts val="0"/>
              </a:spcAft>
              <a:buSzPts val="1472"/>
              <a:buNone/>
              <a:defRPr sz="1600"/>
            </a:lvl4pPr>
            <a:lvl5pPr lvl="4" algn="ctr">
              <a:spcBef>
                <a:spcPts val="600"/>
              </a:spcBef>
              <a:spcAft>
                <a:spcPts val="0"/>
              </a:spcAft>
              <a:buSzPts val="1472"/>
              <a:buNone/>
              <a:defRPr sz="1600"/>
            </a:lvl5pPr>
            <a:lvl6pPr lvl="5" algn="ctr">
              <a:spcBef>
                <a:spcPts val="600"/>
              </a:spcBef>
              <a:spcAft>
                <a:spcPts val="0"/>
              </a:spcAft>
              <a:buSzPts val="1472"/>
              <a:buNone/>
              <a:defRPr sz="1600"/>
            </a:lvl6pPr>
            <a:lvl7pPr lvl="6" algn="ctr">
              <a:spcBef>
                <a:spcPts val="600"/>
              </a:spcBef>
              <a:spcAft>
                <a:spcPts val="0"/>
              </a:spcAft>
              <a:buSzPts val="1472"/>
              <a:buNone/>
              <a:defRPr sz="1600"/>
            </a:lvl7pPr>
            <a:lvl8pPr lvl="7" algn="ctr">
              <a:spcBef>
                <a:spcPts val="600"/>
              </a:spcBef>
              <a:spcAft>
                <a:spcPts val="0"/>
              </a:spcAft>
              <a:buSzPts val="1472"/>
              <a:buNone/>
              <a:defRPr sz="1600"/>
            </a:lvl8pPr>
            <a:lvl9pPr lvl="8" algn="ctr">
              <a:spcBef>
                <a:spcPts val="600"/>
              </a:spcBef>
              <a:spcAft>
                <a:spcPts val="600"/>
              </a:spcAft>
              <a:buSzPts val="1472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9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9"/>
          <p:cNvSpPr txBox="1"/>
          <p:nvPr>
            <p:ph type="body" idx="1"/>
          </p:nvPr>
        </p:nvSpPr>
        <p:spPr>
          <a:xfrm>
            <a:off x="581193" y="2228003"/>
            <a:ext cx="5194767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type="body" idx="2"/>
          </p:nvPr>
        </p:nvSpPr>
        <p:spPr>
          <a:xfrm>
            <a:off x="6416039" y="2228003"/>
            <a:ext cx="5194769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9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9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0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0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1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type="body" idx="1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3" name="Google Shape;43;p51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1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1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/>
          <p:nvPr>
            <p:ph type="title"/>
          </p:nvPr>
        </p:nvSpPr>
        <p:spPr>
          <a:xfrm>
            <a:off x="462151" y="666984"/>
            <a:ext cx="3672970" cy="212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 panose="020B0502020104020203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type="body" idx="1"/>
          </p:nvPr>
        </p:nvSpPr>
        <p:spPr>
          <a:xfrm>
            <a:off x="462151" y="2862479"/>
            <a:ext cx="3672970" cy="3491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9" name="Google Shape;49;p52"/>
          <p:cNvSpPr/>
          <p:nvPr>
            <p:ph type="pic" idx="2"/>
          </p:nvPr>
        </p:nvSpPr>
        <p:spPr>
          <a:xfrm>
            <a:off x="4231970" y="666985"/>
            <a:ext cx="7497880" cy="56873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0" name="Google Shape;50;p52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type="sldNum" idx="12"/>
          </p:nvPr>
        </p:nvSpPr>
        <p:spPr>
          <a:xfrm>
            <a:off x="1067734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53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Gill Sans" panose="020B0502020104020203"/>
              <a:buNone/>
              <a:defRPr sz="36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53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3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3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Google Shape;62;p54"/>
          <p:cNvSpPr txBox="1"/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Gill Sans" panose="020B0502020104020203"/>
              <a:buNone/>
              <a:defRPr sz="3600" b="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 txBox="1"/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54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4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4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5"/>
          <p:cNvSpPr txBox="1"/>
          <p:nvPr>
            <p:ph type="body" idx="1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840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70" name="Google Shape;70;p55"/>
          <p:cNvSpPr txBox="1"/>
          <p:nvPr>
            <p:ph type="body" idx="2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type="body" idx="3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72" name="Google Shape;72;p55"/>
          <p:cNvSpPr txBox="1"/>
          <p:nvPr>
            <p:ph type="body" idx="4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5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5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6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7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57"/>
          <p:cNvSpPr txBox="1"/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ill Sans" panose="020B0502020104020203"/>
              <a:buNone/>
              <a:defRPr sz="2400" b="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7"/>
          <p:cNvSpPr txBox="1"/>
          <p:nvPr>
            <p:ph type="body" idx="1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1945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515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" name="Google Shape;84;p57"/>
          <p:cNvSpPr txBox="1"/>
          <p:nvPr>
            <p:ph type="body" idx="2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85" name="Google Shape;85;p57"/>
          <p:cNvSpPr txBox="1"/>
          <p:nvPr>
            <p:ph type="dt" idx="10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7"/>
          <p:cNvSpPr txBox="1"/>
          <p:nvPr>
            <p:ph type="ft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7"/>
          <p:cNvSpPr txBox="1"/>
          <p:nvPr>
            <p:ph type="sldNum" idx="12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8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Gill Sans" panose="020B0502020104020203"/>
              <a:buNone/>
              <a:defRPr sz="2400" b="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8"/>
          <p:cNvSpPr/>
          <p:nvPr>
            <p:ph type="pic" idx="2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58"/>
          <p:cNvSpPr txBox="1"/>
          <p:nvPr>
            <p:ph type="body" idx="1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92" name="Google Shape;92;p58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8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8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9"/>
          <p:cNvSpPr txBox="1"/>
          <p:nvPr>
            <p:ph type="body" idx="1"/>
          </p:nvPr>
        </p:nvSpPr>
        <p:spPr>
          <a:xfrm rot="5400000">
            <a:off x="4269977" y="-1352782"/>
            <a:ext cx="3652047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1945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45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45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8" name="Google Shape;98;p59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9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9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 matchingName="Vertical Title and Text">
  <p:cSld name="VERTICAL_TITLE_AND_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0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60"/>
          <p:cNvSpPr txBox="1"/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 panose="020B0502020104020203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0"/>
          <p:cNvSpPr txBox="1"/>
          <p:nvPr>
            <p:ph type="body" idx="1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05" name="Google Shape;105;p60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0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6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60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60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0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 panose="020B0502020104020203"/>
              <a:buNone/>
              <a:defRPr sz="28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46"/>
          <p:cNvSpPr txBox="1"/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401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914400" marR="0" lvl="1" indent="-32194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1371600" marR="0" lvl="2" indent="-31051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1828800" marR="0" lvl="3" indent="-298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2286000" marR="0" lvl="4" indent="-2984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2743200" marR="0" lvl="5" indent="-2984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3200400" marR="0" lvl="6" indent="-2984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3657600" marR="0" lvl="7" indent="-2984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4114800" marR="0" lvl="8" indent="-298450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/>
        </p:txBody>
      </p:sp>
      <p:sp>
        <p:nvSpPr>
          <p:cNvPr id="12" name="Google Shape;12;p46"/>
          <p:cNvSpPr txBox="1"/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/>
        </p:txBody>
      </p:sp>
      <p:sp>
        <p:nvSpPr>
          <p:cNvPr id="13" name="Google Shape;13;p46"/>
          <p:cNvSpPr txBox="1"/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/>
        </p:txBody>
      </p:sp>
      <p:sp>
        <p:nvSpPr>
          <p:cNvPr id="14" name="Google Shape;14;p46"/>
          <p:cNvSpPr txBox="1"/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5" name="Google Shape;15;p46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16;p46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46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8" name="Google Shape;18;p46"/>
          <p:cNvGrpSpPr/>
          <p:nvPr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19" name="Google Shape;19;p46"/>
            <p:cNvSpPr/>
            <p:nvPr/>
          </p:nvSpPr>
          <p:spPr>
            <a:xfrm rot="10800000" flipH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endParaRPr>
            </a:p>
          </p:txBody>
        </p:sp>
        <p:sp>
          <p:nvSpPr>
            <p:cNvPr id="20" name="Google Shape;20;p46"/>
            <p:cNvSpPr/>
            <p:nvPr/>
          </p:nvSpPr>
          <p:spPr>
            <a:xfrm rot="10800000" flipH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endParaRPr>
            </a:p>
          </p:txBody>
        </p:sp>
        <p:sp>
          <p:nvSpPr>
            <p:cNvPr id="21" name="Google Shape;21;p46"/>
            <p:cNvSpPr/>
            <p:nvPr/>
          </p:nvSpPr>
          <p:spPr>
            <a:xfrm rot="10800000" flipH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457200" y="783771"/>
            <a:ext cx="11265407" cy="8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 panose="020F0502020204030204"/>
              <a:buNone/>
            </a:pPr>
            <a:r>
              <a:rPr lang="en-US" sz="32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HOSPITAL PATIENT FLOW &amp; MEDICAL SERVICES ANALYTICS</a:t>
            </a:r>
            <a:endParaRPr lang="en-US" sz="3200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7" name="Google Shape;117;p1" descr="A stethoscope on a clipboard"/>
          <p:cNvPicPr preferRelativeResize="0"/>
          <p:nvPr>
            <p:ph type="pic" idx="2"/>
          </p:nvPr>
        </p:nvPicPr>
        <p:blipFill rotWithShape="1">
          <a:blip r:embed="rId1"/>
          <a:srcRect t="28164" b="28164"/>
          <a:stretch>
            <a:fillRect/>
          </a:stretch>
        </p:blipFill>
        <p:spPr>
          <a:xfrm>
            <a:off x="448055" y="3103684"/>
            <a:ext cx="11274551" cy="32879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118" name="Google Shape;118;p1"/>
          <p:cNvSpPr txBox="1"/>
          <p:nvPr/>
        </p:nvSpPr>
        <p:spPr>
          <a:xfrm>
            <a:off x="448055" y="1774371"/>
            <a:ext cx="11265407" cy="107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 panose="020F0502020204030204"/>
              <a:buNone/>
            </a:pPr>
            <a:r>
              <a:rPr lang="en-US" sz="2400" b="1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Presented by:</a:t>
            </a:r>
            <a:endParaRPr lang="en-US" sz="2400" b="1" i="0" u="none" strike="noStrike" cap="none">
              <a:solidFill>
                <a:srgbClr val="3F3F3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 panose="020F0502020204030204"/>
              <a:buNone/>
            </a:pPr>
            <a:r>
              <a:rPr lang="en-US" sz="2400" b="1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Nandini Gopalakrishnan</a:t>
            </a:r>
            <a:endParaRPr lang="en-US" sz="2400" b="1" i="0" u="none" strike="noStrike" cap="none">
              <a:solidFill>
                <a:srgbClr val="3F3F3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abdab7f35_0_8"/>
          <p:cNvSpPr txBox="1"/>
          <p:nvPr>
            <p:ph type="title"/>
          </p:nvPr>
        </p:nvSpPr>
        <p:spPr>
          <a:xfrm>
            <a:off x="349000" y="1027158"/>
            <a:ext cx="113061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 Statement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g37abdab7f35_0_8"/>
          <p:cNvSpPr txBox="1"/>
          <p:nvPr>
            <p:ph type="body" idx="1"/>
          </p:nvPr>
        </p:nvSpPr>
        <p:spPr>
          <a:xfrm>
            <a:off x="449825" y="1447800"/>
            <a:ext cx="11390400" cy="30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12420" algn="l" rtl="0">
              <a:spcBef>
                <a:spcPts val="360"/>
              </a:spcBef>
              <a:spcAft>
                <a:spcPts val="0"/>
              </a:spcAft>
              <a:buSzPts val="1756"/>
              <a:buFont typeface="Calibri" panose="020F0502020204030204"/>
              <a:buChar char="◼"/>
            </a:pP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objective of this project is to analyze operational efficiency and patient care metrics across hospital departments.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12420" algn="l" rtl="0">
              <a:spcBef>
                <a:spcPts val="600"/>
              </a:spcBef>
              <a:spcAft>
                <a:spcPts val="0"/>
              </a:spcAft>
              <a:buSzPts val="1756"/>
              <a:buFont typeface="Calibri" panose="020F0502020204030204"/>
              <a:buChar char="◼"/>
            </a:pP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includes tracking patient admissions, treatment outcomes, and doctor performance using multiple datasets.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12420" algn="l" rtl="0">
              <a:spcBef>
                <a:spcPts val="600"/>
              </a:spcBef>
              <a:spcAft>
                <a:spcPts val="0"/>
              </a:spcAft>
              <a:buSzPts val="1756"/>
              <a:buFont typeface="Calibri" panose="020F0502020204030204"/>
              <a:buChar char="◼"/>
            </a:pP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analysis will uncover bottlenecks, identify high-performing doctors, and help optimize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hospital resources and revenue.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1900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aecea9243_0_0"/>
          <p:cNvSpPr txBox="1"/>
          <p:nvPr>
            <p:ph type="title"/>
          </p:nvPr>
        </p:nvSpPr>
        <p:spPr>
          <a:xfrm>
            <a:off x="349000" y="1027158"/>
            <a:ext cx="113061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Cleaning and Preparation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g37aecea9243_0_0"/>
          <p:cNvSpPr txBox="1"/>
          <p:nvPr>
            <p:ph type="body" idx="1"/>
          </p:nvPr>
        </p:nvSpPr>
        <p:spPr>
          <a:xfrm>
            <a:off x="449825" y="1447800"/>
            <a:ext cx="11306100" cy="3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12420" algn="l" rtl="0">
              <a:spcBef>
                <a:spcPts val="360"/>
              </a:spcBef>
              <a:spcAft>
                <a:spcPts val="0"/>
              </a:spcAft>
              <a:buSzPts val="1756"/>
              <a:buFont typeface="Calibri" panose="020F0502020204030204"/>
              <a:buChar char="◼"/>
            </a:pPr>
            <a:r>
              <a:rPr lang="en-US" sz="19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Doctor ID Standardization</a:t>
            </a: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- Corrected mismatched Doctor_IDs by applying consistent prefixes to ensure accurate joins across tables (Eg: Doctor_id - D01001 to D1001)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12420" algn="l" rtl="0">
              <a:spcBef>
                <a:spcPts val="600"/>
              </a:spcBef>
              <a:spcAft>
                <a:spcPts val="0"/>
              </a:spcAft>
              <a:buSzPts val="1756"/>
              <a:buFont typeface="Calibri" panose="020F0502020204030204"/>
              <a:buChar char="◼"/>
            </a:pPr>
            <a:r>
              <a:rPr lang="en-US" sz="19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Date Format Unification</a:t>
            </a: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- Converted all Admission, Discharge, and Treatment dates into a uniform DATE format, enabling reliable time-based analysis.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12420" algn="l" rtl="0">
              <a:spcBef>
                <a:spcPts val="600"/>
              </a:spcBef>
              <a:spcAft>
                <a:spcPts val="0"/>
              </a:spcAft>
              <a:buSzPts val="1756"/>
              <a:buFont typeface="Calibri" panose="020F0502020204030204"/>
              <a:buChar char="◼"/>
            </a:pPr>
            <a:r>
              <a:rPr lang="en-US" sz="19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Redundancy Removal</a:t>
            </a: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- Dropped duplicate Department column from Doctor_Profiles to avoid data inconsistencies.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12420" algn="l" rtl="0">
              <a:spcBef>
                <a:spcPts val="600"/>
              </a:spcBef>
              <a:spcAft>
                <a:spcPts val="0"/>
              </a:spcAft>
              <a:buSzPts val="1756"/>
              <a:buFont typeface="Calibri" panose="020F0502020204030204"/>
              <a:buChar char="◼"/>
            </a:pPr>
            <a:r>
              <a:rPr lang="en-US" sz="19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Invalid Data Handling</a:t>
            </a: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- Removed records with invalid ages (AGE = 0) to maintain data integrity.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12420" algn="l" rtl="0">
              <a:spcBef>
                <a:spcPts val="600"/>
              </a:spcBef>
              <a:spcAft>
                <a:spcPts val="0"/>
              </a:spcAft>
              <a:buSzPts val="1756"/>
              <a:buFont typeface="Calibri" panose="020F0502020204030204"/>
              <a:buChar char="◼"/>
            </a:pPr>
            <a:r>
              <a:rPr lang="en-US" sz="19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Feature Engineering</a:t>
            </a:r>
            <a:r>
              <a:rPr lang="en-US" sz="1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- Created an AGE_GROUP column (0–9, 10–19, … 90–99) to support demographic and cohort-based analysis.</a:t>
            </a:r>
            <a:endParaRPr sz="19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1900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 txBox="1"/>
          <p:nvPr>
            <p:ph type="ctrTitle"/>
          </p:nvPr>
        </p:nvSpPr>
        <p:spPr>
          <a:xfrm>
            <a:off x="1524000" y="1143000"/>
            <a:ext cx="9144000" cy="2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A. BASIC AGGREGATIONS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>
            <p:ph type="title"/>
          </p:nvPr>
        </p:nvSpPr>
        <p:spPr>
          <a:xfrm>
            <a:off x="304800" y="729658"/>
            <a:ext cx="11306009" cy="52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 panose="020F0502020204030204"/>
              <a:buNone/>
            </a:pPr>
            <a:r>
              <a:rPr lang="en-US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Calculate the number of admissions per department per month.</a:t>
            </a:r>
            <a:endParaRPr lang="en-US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3"/>
          <p:cNvSpPr txBox="1"/>
          <p:nvPr>
            <p:ph type="body" idx="1"/>
          </p:nvPr>
        </p:nvSpPr>
        <p:spPr>
          <a:xfrm>
            <a:off x="449826" y="1447800"/>
            <a:ext cx="5646173" cy="498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Overall Trend – All years combined: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Emergency department has the highest admissions in March.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Gastroenterology and Pediatrics have the lowest admissions in February.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February consistently records low admissions across all departments.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208915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Year-wise Trends: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2023: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Emergency peaked in August, while Gastroenterology recorded its lowest in September.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2024: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Orthopedics peaked in January, while Cardiology and Pediatrics were lowest in February.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2025: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Cardiology peaked in March, while Emergency was lowest in February.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3" name="Google Shape;143;p3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416509" y="1447800"/>
            <a:ext cx="5194300" cy="3120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4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446767" y="620960"/>
            <a:ext cx="5105400" cy="3052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4"/>
          <p:cNvPicPr preferRelativeResize="0"/>
          <p:nvPr>
            <p:ph type="body" idx="2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335485" y="551097"/>
            <a:ext cx="5257347" cy="3191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312362" y="3766730"/>
            <a:ext cx="4881588" cy="2919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/>
          <p:nvPr>
            <p:ph type="title"/>
          </p:nvPr>
        </p:nvSpPr>
        <p:spPr>
          <a:xfrm>
            <a:off x="304800" y="729658"/>
            <a:ext cx="11306009" cy="52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 panose="020F0502020204030204"/>
              <a:buNone/>
            </a:pPr>
            <a:r>
              <a:rPr lang="en-US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Calculate the number of admissions per department per month.</a:t>
            </a:r>
            <a:endParaRPr lang="en-US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5"/>
          <p:cNvSpPr txBox="1"/>
          <p:nvPr>
            <p:ph type="body" idx="1"/>
          </p:nvPr>
        </p:nvSpPr>
        <p:spPr>
          <a:xfrm>
            <a:off x="449826" y="1253651"/>
            <a:ext cx="11160983" cy="5049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Investigate seasonal or operational factors causing low admissions in February and department-specific fluctuations.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Optimize staff allocation and resource planning in months/departments with higher admission demand (e.g., Emergency in March, Orthopedics in January).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 - to fetch admissions count, department, year, and month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COUNT(*) - to calculate total admissions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YEAR() / MONTHNAME() / MONTH() - to extract year &amp; month from admission date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- to group data by department and month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ORDER BY - to sort results by department, year, and month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581193" y="729658"/>
            <a:ext cx="11029616" cy="794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 panose="020F0502020204030204"/>
              <a:buNone/>
            </a:pPr>
            <a:r>
              <a:rPr lang="en-US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Find the average treatment cost per department.</a:t>
            </a:r>
            <a:endParaRPr lang="en-US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6"/>
          <p:cNvSpPr txBox="1"/>
          <p:nvPr>
            <p:ph type="body" idx="1"/>
          </p:nvPr>
        </p:nvSpPr>
        <p:spPr>
          <a:xfrm>
            <a:off x="581193" y="1436914"/>
            <a:ext cx="5721636" cy="482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average treatment cost is consistent across all departments (10.2K).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JOIN (to combine treatment_records with patient_admissions to get department info)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(to calculate per department)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AVG() (to get average treatment cost)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ORDER BY (to sort by department)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3" name="Google Shape;163;p6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680659" y="2095256"/>
            <a:ext cx="4791744" cy="350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>
            <p:ph type="ctrTitle"/>
          </p:nvPr>
        </p:nvSpPr>
        <p:spPr>
          <a:xfrm>
            <a:off x="1524000" y="1143000"/>
            <a:ext cx="9144000" cy="2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B. JOIN OPERATIONS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 panose="020F0502020204030204"/>
              <a:buNone/>
            </a:pPr>
            <a:r>
              <a:rPr lang="en-US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Join admissions with doctors to identify top performing doctors by department.</a:t>
            </a:r>
            <a:endParaRPr lang="en-US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8"/>
          <p:cNvSpPr txBox="1"/>
          <p:nvPr>
            <p:ph type="body" idx="1"/>
          </p:nvPr>
        </p:nvSpPr>
        <p:spPr>
          <a:xfrm>
            <a:off x="468086" y="1436914"/>
            <a:ext cx="5834743" cy="509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Cardiology leads with the highest number of top-performing doctors (136), contributing a total of 1,201 successful treatments.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Neurology has the least top-performing doctors (108), with a total of 970 successful treatments.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Among all top performers: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Doctor D6184 (Cardiology) achieved the highest individual success count (20 treatments).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Doctor D4471 (Neurology) and Doctors D2685 &amp; D9287 (Oncology) recorded the lowest success count (16 treatments each).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Recognize and replicate best practices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from high-performing departments (like Cardiology).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Provide targeted training and resources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 doctors in lower-performing departments (Neurology, Oncology) to boost success rates.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6" name="Google Shape;176;p8" descr="A screenshot of a computer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416675" y="1780918"/>
            <a:ext cx="5405438" cy="4318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 panose="020F0502020204030204"/>
              <a:buNone/>
            </a:pPr>
            <a:r>
              <a:rPr lang="en-US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Join admissions with doctors to identify top performing doctors by department.</a:t>
            </a:r>
            <a:endParaRPr lang="en-US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p9"/>
          <p:cNvSpPr txBox="1"/>
          <p:nvPr>
            <p:ph type="body" idx="1"/>
          </p:nvPr>
        </p:nvSpPr>
        <p:spPr>
          <a:xfrm>
            <a:off x="468086" y="1436915"/>
            <a:ext cx="11142723" cy="4463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 – to fetch doctor details, specialization, success counts, and calculated success rate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SUM() / COUNT() – to calculate total successful treatments and total patients per doctor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ROUND() – to format success rate percentage to 2 decimals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JOIN – to combine doctor profiles with treatment records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– to aggregate data per doctor and specialization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DENSE_RANK() OVER (PARTITION BY … ORDER BY …) – to rank doctors by success rate within each department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CTE (WITH clause) – to simplify query by breaking into steps (DOCTOR_PERFORMANCE, MAX_SUCCESSFUL_TREATMENTS_PER_DEPT)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MAX() – to identify the doctor with the highest successful treatments in each department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WHERE – to filter only top-ranked doctors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ORDER BY – to sort results by specialization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 panose="020F0502020204030204"/>
              <a:buNone/>
            </a:pPr>
            <a:r>
              <a:rPr lang="en-US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Join treatments with patient data to evaluate recovery rate by age group.</a:t>
            </a:r>
            <a:endParaRPr lang="en-US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10"/>
          <p:cNvSpPr txBox="1"/>
          <p:nvPr>
            <p:ph type="body" idx="1"/>
          </p:nvPr>
        </p:nvSpPr>
        <p:spPr>
          <a:xfrm>
            <a:off x="468086" y="1338943"/>
            <a:ext cx="5834743" cy="519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Recovery Rate = (Successful Treatments ÷ Total Patients) × 100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0–17 yrs - Highest recovery rate (80.34%)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45–64 yrs - Strong recovery (80.00%)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65+ yrs - Slightly lower recovery (79.67%)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Font typeface="Calibri" panose="020F0502020204030204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18–44 yrs - Lowest recovery (79.41%)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Younger and middle-aged groups (0–17 &amp; 45–64) show better recovery rates compared to the elderly (65+).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Invest in specialized care plans and rehabilitation support for the </a:t>
            </a: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65+ age group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 improve recovery outcomes. 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Introduce </a:t>
            </a: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screening and early intervention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programs for adults (18–44), where recovery rate dips slightly.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9" name="Google Shape;189;p10" descr="A screenshot of a recovery rate by age group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416675" y="2284987"/>
            <a:ext cx="5405438" cy="3310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 panose="020F0502020204030204"/>
              <a:buNone/>
            </a:pPr>
            <a:r>
              <a:rPr lang="en-US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Join treatments with patient data to evaluate recovery rate by age group.</a:t>
            </a:r>
            <a:endParaRPr lang="en-US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11"/>
          <p:cNvSpPr txBox="1"/>
          <p:nvPr>
            <p:ph type="body" idx="1"/>
          </p:nvPr>
        </p:nvSpPr>
        <p:spPr>
          <a:xfrm>
            <a:off x="468086" y="1436915"/>
            <a:ext cx="11142723" cy="4463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 – to fetch age group, total successful treatments, total patients, and recovery rate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– to categorize patients into age groups (0–17, 18–44, 45–64, 65+)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SUM() – to calculate the total number of successful treatments per age group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COUNT() – to count the total number of patients per age group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Arithmetic Operations (/, *) – to calculate recovery rate percentage per age group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 (CTE) – to simplify query by creating a temporary table with age group information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JOIN – to combine patient admissions with treatment records using PATIENT_ID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– to aggregate data per age group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ORDER BY – to sort results by age group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>
            <p:ph type="ctrTitle"/>
          </p:nvPr>
        </p:nvSpPr>
        <p:spPr>
          <a:xfrm>
            <a:off x="1524000" y="1143000"/>
            <a:ext cx="9144000" cy="2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C. WINDOW FUNCTIONS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Calculate moving average of daily admissions (7-day MA).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13"/>
          <p:cNvSpPr txBox="1"/>
          <p:nvPr>
            <p:ph type="body" idx="1"/>
          </p:nvPr>
        </p:nvSpPr>
        <p:spPr>
          <a:xfrm>
            <a:off x="468086" y="1349829"/>
            <a:ext cx="5834743" cy="5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 variability in daily admissions - Numbers range from 60 to 166 per day, indicating strong fluctuations.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7-day moving average smooths the noise - Admissions stabilize around 130 -145, providing a clearer demand trend.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Multi-day surges exist - Spikes are not one-off; consecutive high days push the MA upwards, showing sustained demand pressure.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Risk in relying only on daily data - Sharp peaks and drops can mislead planning if not balanced with MA trends.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7-day MA as the primary planning metric -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Guide staffing, bed allocation, and resource decisions on MA trends, not single-day counts.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Set monitoring alerts -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Trigger action if daily admissions deviate by more than 20% from the MA, enabling proactive response to surges.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8" name="Google Shape;208;p13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459991" y="2313213"/>
            <a:ext cx="5405438" cy="1779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/>
          <p:nvPr>
            <p:ph type="title"/>
          </p:nvPr>
        </p:nvSpPr>
        <p:spPr>
          <a:xfrm>
            <a:off x="575894" y="729658"/>
            <a:ext cx="11029616" cy="45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 panose="020F0502020204030204"/>
              <a:buNone/>
            </a:pPr>
            <a:r>
              <a:rPr lang="en-US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Calculate moving average of daily admissions (7-day MA).</a:t>
            </a:r>
            <a:endParaRPr lang="en-US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14" name="Google Shape;214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5894" y="1671058"/>
            <a:ext cx="5405438" cy="1757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437" y="1683562"/>
            <a:ext cx="5405438" cy="173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200400" y="4228688"/>
            <a:ext cx="5483651" cy="1671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 panose="020F0502020204030204"/>
              <a:buNone/>
            </a:pPr>
            <a:r>
              <a:rPr lang="en-US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Calculate moving average of daily admissions (7-day MA).</a:t>
            </a:r>
            <a:endParaRPr lang="en-US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15"/>
          <p:cNvSpPr txBox="1"/>
          <p:nvPr>
            <p:ph type="body" idx="1"/>
          </p:nvPr>
        </p:nvSpPr>
        <p:spPr>
          <a:xfrm>
            <a:off x="468086" y="1436915"/>
            <a:ext cx="11142723" cy="2416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COUNT() - To calculate the number of admissions per day.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ROW_NUMBER() - To generate sequential ordering of days.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AVG() - To compute the 7-day moving average of admissions.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ROUND() - To format the moving average values to 2 decimal places.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WHEN - To apply conditional logic (show moving average only after 7 days).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Rank doctors by number of successful treatments per month.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16"/>
          <p:cNvSpPr txBox="1"/>
          <p:nvPr>
            <p:ph type="body" idx="1"/>
          </p:nvPr>
        </p:nvSpPr>
        <p:spPr>
          <a:xfrm>
            <a:off x="468086" y="1349829"/>
            <a:ext cx="5834743" cy="385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Different doctors lead in different months - indicating seasonal variation in cases.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February, March, and August show the highest number of top doctors, which might be linked to higher patient inflow.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May, June, and July have fewer top doctors, suggesting lower treatment demand.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Gastroenterology, Pediatrics, Emergency, and Oncology dominate the top ranks, showing strong departmental contribution.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29" name="Google Shape;229;p16" descr="A screenshot of a medical report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438446" y="1531723"/>
            <a:ext cx="5405438" cy="4185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/>
          <p:nvPr>
            <p:ph type="title"/>
          </p:nvPr>
        </p:nvSpPr>
        <p:spPr>
          <a:xfrm>
            <a:off x="581192" y="702156"/>
            <a:ext cx="11029616" cy="429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Rank doctors by number of successful treatments per month.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17"/>
          <p:cNvSpPr txBox="1"/>
          <p:nvPr>
            <p:ph type="body" idx="1"/>
          </p:nvPr>
        </p:nvSpPr>
        <p:spPr>
          <a:xfrm>
            <a:off x="581192" y="1208314"/>
            <a:ext cx="11029615" cy="5050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Recognize and Reward Top Performers -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Incentivize consistently high-performing doctors to maintain motivation and retention.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Address Seasonal Demand -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Optimize staffing and resources during peak months (e.g., Pediatrics in Feb, Emergency in summer) to balance workload and ensure quality care.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COUNT() - Counts the number of successful treatments per doctor.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MONTH() - Extracts the month number (1–12) from treatment date.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MONTHNAME() - Returns the month name (e.g., January, February).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DENSE_RANK() OVER(PARTITION BY … ORDER BY …) - Assigns ranking within each month based on number of successful treatments (no gaps in ranking).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- Groups records by doctor, specialization, and month for aggregation.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JOIN - Combines treatment records with doctor profiles to get specialization.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ORDER BY - Sorts results first by month, then by number of successful treatments (descending).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/>
          <p:nvPr>
            <p:ph type="ctrTitle"/>
          </p:nvPr>
        </p:nvSpPr>
        <p:spPr>
          <a:xfrm>
            <a:off x="1524000" y="1143000"/>
            <a:ext cx="9144000" cy="2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D. PERCENTILES AND MEDIAN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Calculate 25th, 50th, and 75th percentile of treatment costs per treatment type.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19"/>
          <p:cNvSpPr txBox="1"/>
          <p:nvPr>
            <p:ph type="body" idx="1"/>
          </p:nvPr>
        </p:nvSpPr>
        <p:spPr>
          <a:xfrm>
            <a:off x="468086" y="1349829"/>
            <a:ext cx="5834743" cy="5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treatment cost is uniform across all treatment types.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Hence, the 25</a:t>
            </a:r>
            <a:r>
              <a:rPr lang="en-US" baseline="30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50</a:t>
            </a:r>
            <a:r>
              <a:rPr lang="en-US" baseline="30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th,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75</a:t>
            </a:r>
            <a:r>
              <a:rPr lang="en-US" baseline="30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percentiles for all the treatment types remain constant.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Compare treatment costs with industry averages to assess competitiveness and identify optimization opportunities.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PERCENT_RANK() - To calculate the relative position of each COST within its TREATMENT_TYPE (for quartile calculation).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WHEN ... THEN ... END - To filter costs that fall within specific percentile ranges (P25, P50, P75).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MAX() - To pick the highest cost within each percentile range for each TREATMENT_TYPE.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- To aggregate the results by TREATMENT_TYPE after calculating quartiles.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9" name="Google Shape;249;p19" descr="A graph of different colored bars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416675" y="2060524"/>
            <a:ext cx="5405438" cy="356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Find the median length of stay per department.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0"/>
          <p:cNvSpPr txBox="1"/>
          <p:nvPr>
            <p:ph type="body" idx="1"/>
          </p:nvPr>
        </p:nvSpPr>
        <p:spPr>
          <a:xfrm>
            <a:off x="468086" y="1349829"/>
            <a:ext cx="5834743" cy="5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length of stay is fairly consistent across departments, with slight variations. 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Most departments (Cardiology, Emergency, Gastroenterology, Urology) have a median stay of 11 days.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Other departments (Neurology, Oncology, Orthopedics, Pediatrics) have a median stay of 10 days.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Departments with higher median stays (11 days) may indicate more complex cases or slower patient turnover.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Monitor departments with longer stays for operational bottlenecks or care efficiency improvements.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this data for capacity planning and staff allocation in high-stay departments.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56" name="Google Shape;256;p20" descr="A graph of a number of people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416675" y="2147239"/>
            <a:ext cx="5405438" cy="3585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Find the median length of stay per department.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21"/>
          <p:cNvSpPr txBox="1"/>
          <p:nvPr>
            <p:ph type="body" idx="1"/>
          </p:nvPr>
        </p:nvSpPr>
        <p:spPr>
          <a:xfrm>
            <a:off x="468086" y="1436915"/>
            <a:ext cx="11142723" cy="308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DATEDIFF() - Calculates the length of stay for each patient.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ROW_NUMBER() OVER(PARTITION BY DEPARTMENT ORDER BY LENGTH_OF_STAY) - Ranks patients by stay within each department.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COUNT() OVER(PARTITION BY DEPARTMENT) - Counts total patients per department to determine median position.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WHEN ... THEN ... END - Differentiates calculation for odd vs. even number of patients.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MAX() &amp; AVG() - Aggregates values to compute median.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- Groups results by department for final median calculation.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/>
          <p:nvPr>
            <p:ph type="ctrTitle"/>
          </p:nvPr>
        </p:nvSpPr>
        <p:spPr>
          <a:xfrm>
            <a:off x="1524000" y="1143000"/>
            <a:ext cx="9144000" cy="2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E. GROUPING AND CASE STATEMENTS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Group patients into 'High-Risk', 'Moderate-Risk’, and 'Low-Risk' based on comorbidity count.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23"/>
          <p:cNvSpPr txBox="1"/>
          <p:nvPr>
            <p:ph type="body" idx="1"/>
          </p:nvPr>
        </p:nvSpPr>
        <p:spPr>
          <a:xfrm>
            <a:off x="468086" y="1349829"/>
            <a:ext cx="5834743" cy="5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Low-risk patients dominate the population (62.66%, 37,824 patients).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Moderate-risk patients form a significant portion (36.82%, 2,227 patients).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High-risk patients are very few in number (0.52%, 312 patients), but need special attention due to higher comorbidity counts.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Overall, more than 1 in 3 patients fall under Moderate/High risk categories, indicating notable healthcare management needs.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Targeted Care Programs: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Monitor High-Risk patients closely with specialized treatment plans.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Resource Allocation: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Focus resources (beds, staff, ICUs) proportionally to higher-risk categories.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Awareness &amp; Prevention: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Educate Low-Risk patients to maintain healthy lifestyles and reduce risk progression.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75" name="Google Shape;275;p23" descr="A pie chart with numbers and a number of text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492875" y="1572787"/>
            <a:ext cx="5405438" cy="3428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Group patients into 'High-Risk', 'Moderate-Risk’, and 'Low-Risk' based on comorbidity count.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1" name="Google Shape;281;p24"/>
          <p:cNvSpPr txBox="1"/>
          <p:nvPr>
            <p:ph type="body" idx="1"/>
          </p:nvPr>
        </p:nvSpPr>
        <p:spPr>
          <a:xfrm>
            <a:off x="468086" y="1436915"/>
            <a:ext cx="11142723" cy="2503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 – to fetch patient IDs, comorbidity counts, and risk categories.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COUNT(DISTINCT …) – to calculate comorbidity count (unique treatment types).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– to categorize patients into High/Moderate/Low risk groups.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– to group data at the patient level.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ORDER BY – to sort patients by descending comorbidity count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Find admission trends by weekday and weekend.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7" name="Google Shape;287;p25"/>
          <p:cNvSpPr txBox="1"/>
          <p:nvPr>
            <p:ph type="body" idx="1"/>
          </p:nvPr>
        </p:nvSpPr>
        <p:spPr>
          <a:xfrm>
            <a:off x="468086" y="1349829"/>
            <a:ext cx="5834743" cy="5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Weekdays dominate admissions with 71k (71.53%) of total patients.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Weekends contribute significantly less, 28k (28.47%) admissions.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Indicates hospital services are primarily utilized on weekdays.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Staff Allocation: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Ensure more doctors, nurses, and support staff are available on weekdays to handle higher patient load.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Weekend Planning: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Consider extending services/appointments on weekends to reduce weekday pressure.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Operational Strategy: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weekend slots for non-urgent or routine checkups to balance demand.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88" name="Google Shape;288;p25" descr="A pie chart with numbers and a few words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666364" y="2068252"/>
            <a:ext cx="4906060" cy="374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Find admission trends by weekday and weekend.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4" name="Google Shape;294;p26"/>
          <p:cNvSpPr txBox="1"/>
          <p:nvPr>
            <p:ph type="body" idx="1"/>
          </p:nvPr>
        </p:nvSpPr>
        <p:spPr>
          <a:xfrm>
            <a:off x="468086" y="1436915"/>
            <a:ext cx="11142723" cy="2503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 – fetches day type (weekday/weekend) and total admissions.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– classifies admission dates into Weekday vs Weekend.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DAYNAME() – extracts the day of the week from the admission date.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COUNT() – calculates total admissions.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– groups admissions into Weekday vs Weekend categories.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/>
          <p:nvPr>
            <p:ph type="ctrTitle"/>
          </p:nvPr>
        </p:nvSpPr>
        <p:spPr>
          <a:xfrm>
            <a:off x="1524000" y="1143000"/>
            <a:ext cx="9144000" cy="2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F. COMPLEX JOINS AND SUBQUERIES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Find doctors whose patients had recovery rate above the departmental average.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6" name="Google Shape;306;p28"/>
          <p:cNvSpPr txBox="1"/>
          <p:nvPr>
            <p:ph type="body" idx="1"/>
          </p:nvPr>
        </p:nvSpPr>
        <p:spPr>
          <a:xfrm>
            <a:off x="468086" y="1349829"/>
            <a:ext cx="5834743" cy="5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department has an average patient recovery rate ranging roughly from 79.1% (Urology) to 80.3% (Cardiology).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Gastroenterology has the highest number of top-performing doctors (635), while Neurology has the fewest (573).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Orthopedics and Pediatrics both have same number of high performing doctors (608)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indicates distribution of performance varies across specializations, potentially reflecting departmental challenges or doctor expertise.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Recognize and benchmark top-performing doctors for best practices.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Investigate departments with fewer top performers (Neurology, Urology) to identify training or process improvement opportunities.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recovery rate metrics to guide staffing, mentoring, and quality improvement initiatives.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07" name="Google Shape;307;p28" descr="A screenshot of a computer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471104" y="1470724"/>
            <a:ext cx="5405438" cy="3471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Find doctors whose patients had recovery rate above the departmental average.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3" name="Google Shape;313;p29"/>
          <p:cNvSpPr txBox="1"/>
          <p:nvPr>
            <p:ph type="body" idx="1"/>
          </p:nvPr>
        </p:nvSpPr>
        <p:spPr>
          <a:xfrm>
            <a:off x="468086" y="1436915"/>
            <a:ext cx="11142723" cy="2503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AVG() - Calculates the departmental average patient recovery (success) rate.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COUNT() - Counts doctors exceeding the department average.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JOIN - Combines doctor_profiles with treatment_records to compute per-doctor recovery rates.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- Aggregates data by SPECIALIZATION or DOCTOR_ID.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WHEN ... &gt; dept_avg THEN 1 END - Filters doctors whose patients exceed the departmental average.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Identify patients who visited more than 3 departments in a year.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0" name="Google Shape;320;p30"/>
          <p:cNvSpPr txBox="1"/>
          <p:nvPr>
            <p:ph type="body" idx="1"/>
          </p:nvPr>
        </p:nvSpPr>
        <p:spPr>
          <a:xfrm>
            <a:off x="468086" y="1349829"/>
            <a:ext cx="5834743" cy="5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71 patients visited more than 3 departments in a year.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Patients visiting more than 3 departments in a year are relatively few, indicating complex care needs.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Majority of these patients visited 4 departments consistently across 2022–2024.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Rare cases of 5 department visits suggest highly complex or chronic conditions.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Such patients may significantly impact hospital resource utilization and care coordination.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 these patients for multidisciplinary care planning to improve treatment efficiency.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Investigate patterns to identify high-risk or chronic patients for proactive interventions.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insights for resource allocation, staffing, and operational planning in multi-department care.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21" name="Google Shape;321;p30" descr="A screenshot of a computer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318476" y="1624715"/>
            <a:ext cx="5405438" cy="3324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Identify patients who visited more than 3 departments in a year.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7" name="Google Shape;327;p31"/>
          <p:cNvSpPr txBox="1"/>
          <p:nvPr>
            <p:ph type="body" idx="1"/>
          </p:nvPr>
        </p:nvSpPr>
        <p:spPr>
          <a:xfrm>
            <a:off x="468086" y="1436915"/>
            <a:ext cx="11142723" cy="2503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COUNT(DISTINCT D.SPECIALIZATION) - Calculates the number of unique departments visited per patient.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JOIN - Links TREATMENT_RECORDS with DOCTOR_PROFILES to get department info.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YEAR(TREATMENT_DATE) - Extracts treatment year for yearly analysis.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&amp; HAVING - Aggregates per patient per year and filters patients with &gt;3 department visits.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ORDER BY DESC - Ranks patients by number of distinct department visits.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2"/>
          <p:cNvSpPr txBox="1"/>
          <p:nvPr>
            <p:ph type="ctrTitle"/>
          </p:nvPr>
        </p:nvSpPr>
        <p:spPr>
          <a:xfrm>
            <a:off x="1524000" y="1143000"/>
            <a:ext cx="9144000" cy="2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G. DATE FUNCTIONS AND YOY</a:t>
            </a:r>
            <a:endParaRPr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Calculate the year-over-year change in total treatments administered.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9" name="Google Shape;339;p33"/>
          <p:cNvSpPr txBox="1"/>
          <p:nvPr>
            <p:ph type="body" idx="1"/>
          </p:nvPr>
        </p:nvSpPr>
        <p:spPr>
          <a:xfrm>
            <a:off x="468086" y="1349829"/>
            <a:ext cx="5834743" cy="5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Treatments increased slightly from 2022 to 2023 by </a:t>
            </a: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1.23%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indicating stable growth.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Treatments dropped sharply in 2024 by </a:t>
            </a: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25.99%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signaling a potential issue in service delivery, patient inflow, or data completeness.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significant drop in 2024 warrants further investigation into seasonality, resource constraints, or external factors.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Investigate causes of 2024 decline - check for missing data, operational disruptions, or changes in patient behavior.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Plan resources and staffing based on trends from 2022–2023, adjusting for potential fluctuations.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YoY trends to forecast future treatment demand and optimize hospital operations.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40" name="Google Shape;340;p33" descr="A graph showing the growth of a patient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318476" y="1666991"/>
            <a:ext cx="5405438" cy="206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Calculate the year-over-year change in total treatments administered.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6" name="Google Shape;346;p34"/>
          <p:cNvSpPr txBox="1"/>
          <p:nvPr>
            <p:ph type="body" idx="1"/>
          </p:nvPr>
        </p:nvSpPr>
        <p:spPr>
          <a:xfrm>
            <a:off x="468086" y="1436915"/>
            <a:ext cx="11142723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YEAR() - Extracts the year from TREATMENT_DATE.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COUNT() - Calculates total treatments per year.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LAG() - Retrieves the previous year’s total treatments for YoY calculation.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 (ORDER BY TREATMENT_YEAR) - Defines the order for LAG() to compute previous year values correctly.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ROUND() - Rounds the YoY percentage change to 2 decimal places.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- Aggregates treatments by year.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Find the month with the highest treatment cost.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2" name="Google Shape;352;p35"/>
          <p:cNvSpPr txBox="1"/>
          <p:nvPr>
            <p:ph type="body" idx="1"/>
          </p:nvPr>
        </p:nvSpPr>
        <p:spPr>
          <a:xfrm>
            <a:off x="468086" y="1349829"/>
            <a:ext cx="5834743" cy="51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2022: January recorded the highest cost – 31.78M.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2023: August peaked with 32.33M in treatment costs.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2024: January again topped with 32.60M, showing a recurring high-cost trend at the start of the year.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Clear seasonal pattern emerging with January spikes in multiple years.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Across all years, </a:t>
            </a: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January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recorded the highest treatment cost, totaling 32.60M in 2024</a:t>
            </a: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Budget Planning: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Allocate more financial &amp; medical resources for January (historically high-cost month).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Predictive Strategy: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Use this pattern for </a:t>
            </a: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forecasting future treatment costs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optimizing procurement &amp; staffing.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53" name="Google Shape;353;p35" descr="A screenshot of a graph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6742251" y="1436688"/>
            <a:ext cx="4754286" cy="50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348343" y="729658"/>
            <a:ext cx="11262466" cy="5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Find the month with the highest treatment cost.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9" name="Google Shape;359;p36"/>
          <p:cNvSpPr txBox="1"/>
          <p:nvPr>
            <p:ph type="body" idx="1"/>
          </p:nvPr>
        </p:nvSpPr>
        <p:spPr>
          <a:xfrm>
            <a:off x="468086" y="1436914"/>
            <a:ext cx="11142723" cy="451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 (CTE) – creates a temporary result set (YEARWISE_MONTHLY_TOTAL_TREATMENT_COST) to simplify complex queries.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 – retrieves year, month, total treatment cost, and rank.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YEAR() &amp; MONTHNAME() – extract year and month name from treatment date.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SUM() – calculates the total treatment cost per month.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ROUND() – formats treatment cost values to 2 decimal places.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– aggregates costs at the year–month level.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DENSE_RANK() OVER (PARTITION BY … ORDER BY …) – assigns a rank to each month by cost within each year (highest = 1).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ORDER BY – sorts data by year and month for readability.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WHERE – filters only the highest treatment cost month (rank = 1) per year.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/>
          <p:nvPr>
            <p:ph type="ctrTitle"/>
          </p:nvPr>
        </p:nvSpPr>
        <p:spPr>
          <a:xfrm>
            <a:off x="1524000" y="1143000"/>
            <a:ext cx="9144000" cy="2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 panose="020F0502020204030204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H. RETENTION AND FOLLOW-UP ANALYSIS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/>
          <p:nvPr>
            <p:ph type="title"/>
          </p:nvPr>
        </p:nvSpPr>
        <p:spPr>
          <a:xfrm>
            <a:off x="381000" y="664030"/>
            <a:ext cx="1126246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Find patients readmitted within 30 days of discharge.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71" name="Google Shape;371;p38" descr="A screenshot of a medical report&#10;&#10;AI-generated content may be incorrect.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855314" y="1127125"/>
            <a:ext cx="10481372" cy="56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Find patients readmitted within 30 days of discharge.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7" name="Google Shape;377;p39"/>
          <p:cNvSpPr txBox="1"/>
          <p:nvPr>
            <p:ph type="body" idx="1"/>
          </p:nvPr>
        </p:nvSpPr>
        <p:spPr>
          <a:xfrm>
            <a:off x="548534" y="1126671"/>
            <a:ext cx="5834743" cy="567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Gender-wise Distribution: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Male: 1,817 patients (60.95%) – highest readmission.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Other: 1,013 patients (33.98%).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Female: 151 patients (5.07%) – lowest readmission.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Readmissions are male-dominated, suggesting possible gender-linked health or lifestyle factors.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 Visit Frequency (by Age Group &amp; Gender):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Peak re-admissions observed in males (3 times) in ages 40–49, 60–69, 80–89.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most other groups, 1–2 quick visits within 30 days.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Certain male age groups (40–49, 60–69, 80–89) are at higher risk of repeated quick readmissions.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20066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8" name="Google Shape;378;p39"/>
          <p:cNvSpPr txBox="1"/>
          <p:nvPr>
            <p:ph type="body" idx="2"/>
          </p:nvPr>
        </p:nvSpPr>
        <p:spPr>
          <a:xfrm>
            <a:off x="6550811" y="1556656"/>
            <a:ext cx="5405847" cy="5301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Treatment Interval Distribution (Days Between Treatments):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Most patients return within 1–9 days.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Noticeable peaks at Day 1 (120 patients), Day 7 (120), and Day 22 (126).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Suggests critical monitoring periods within the first week and ~3 weeks post-discharge.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Top Frequent Readmitted Patients (within 30 days)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p21254 – Male, 60–69 - 3 visits.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p52673 – Male, 40–49 - 3 visits.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p86719 – Male, 80–89 - 3 visits.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Insight: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All top repeat cases are male patients in different risk-prone age groups.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20066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20066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Find patients readmitted within 30 days of discharge.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4" name="Google Shape;384;p40"/>
          <p:cNvSpPr txBox="1"/>
          <p:nvPr>
            <p:ph type="body" idx="1"/>
          </p:nvPr>
        </p:nvSpPr>
        <p:spPr>
          <a:xfrm>
            <a:off x="631371" y="1556657"/>
            <a:ext cx="11186266" cy="538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Targeted Post-Discharge Care: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Focus follow-ups on males aged 40–89 with tailored care plans.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Early Intervention Programs: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Closely monitor patients in the first 7 days and around Day 22 after discharge.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Patient Tracking: 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Maintain a high-risk patient registry to track frequent readmissions and provide additional support.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Gender-Specific Health Strategies:</a:t>
            </a: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Explore preventive measures addressing male readmission drivers.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LAG() - Retrieves the previous treatment date for each patient to calculate gaps between visits.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DATEDIFF() - Calculates the number of days between current and previous treatment dates.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COUNT() - Counts how many times each patient was readmitted within 30 days.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 (PARTITION BY ... ORDER BY ...) - Creates a window per patient, ordering by treatment date to compare consecutive visits.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JOIN - Combines treatment records with patient demographics (age group, gender).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WHERE &lt; 30 - Filters only those visits occurring within 30 days of the previous one.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- Groups data by patient, age group, and gender for aggregations.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35"/>
              </a:spcBef>
              <a:spcAft>
                <a:spcPts val="0"/>
              </a:spcAft>
              <a:buSzPct val="92000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ORDER BY - Sorts patients by the number of quick readmissions.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208915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endParaRPr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208915" algn="l" rtl="0">
              <a:spcBef>
                <a:spcPts val="935"/>
              </a:spcBef>
              <a:spcAft>
                <a:spcPts val="0"/>
              </a:spcAft>
              <a:buSzPct val="92000"/>
              <a:buNone/>
            </a:pPr>
            <a:endParaRPr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Calculate average interval between admissions for chronic patients.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90" name="Google Shape;390;p41" descr="A screenshot of a medical report&#10;&#10;AI-generated content may be incorrect.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807356" y="1262742"/>
            <a:ext cx="10577287" cy="544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Calculate average interval between admissions for chronic patients.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6" name="Google Shape;396;p42"/>
          <p:cNvSpPr txBox="1"/>
          <p:nvPr>
            <p:ph type="body" idx="1"/>
          </p:nvPr>
        </p:nvSpPr>
        <p:spPr>
          <a:xfrm>
            <a:off x="548534" y="1341663"/>
            <a:ext cx="10957666" cy="498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Insights: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Total chronic patients analyzed: 15.63K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Overall average treatment interval: 300.54 days (~10 months)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Demographics: The majority are male across all age groups.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Patients with a 0-day average interval suggest same-day repeat admissions or data recording overlaps.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Longest intervals (~975 - 988 days) found among older patients (90–99, 50–59) and a few pediatric cases (0–9).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Recommendations: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Investigate patients with 0-day intervals for potential data quality issues or emergency readmissions.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patients with long intervals, check for treatment adherence or follow-up gaps.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 age and gender-specific chronic care programs, focusing on male patients with shorter return gaps.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interval trends for predictive scheduling and chronic care planning.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20066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 txBox="1"/>
          <p:nvPr>
            <p:ph type="title"/>
          </p:nvPr>
        </p:nvSpPr>
        <p:spPr>
          <a:xfrm>
            <a:off x="381000" y="664029"/>
            <a:ext cx="11262466" cy="47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 panose="020F0502020204030204"/>
              <a:buNone/>
            </a:pPr>
            <a:r>
              <a:rPr lang="en-US" sz="2200" b="1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Calculate average interval between admissions for chronic patients.</a:t>
            </a:r>
            <a:endParaRPr lang="en-US" sz="2200" b="1" cap="none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2" name="Google Shape;402;p43"/>
          <p:cNvSpPr txBox="1"/>
          <p:nvPr>
            <p:ph type="body" idx="1"/>
          </p:nvPr>
        </p:nvSpPr>
        <p:spPr>
          <a:xfrm>
            <a:off x="624734" y="1393373"/>
            <a:ext cx="11186266" cy="357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SQL:</a:t>
            </a:r>
            <a:endParaRPr lang="en-US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WHEN - Classifies patients into Chronic vs Non-Chronic based on diagnosis.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LAG() -- Fetches previous treatment date for each patient.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DATEDIFF() -- Calculates gap (days) between current and previous treatments.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AVG() -- Computes average interval per patient and overall.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ROUND() -- Rounds averages to 2 decimal places for reporting.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 (PARTITION BY … ORDER BY …) -- Ensures treatment intervals are calculated sequentially per patient.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30607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BY -- Aggregates averages by patient, age group, and gender.</a:t>
            </a:r>
            <a:endParaRPr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6070" lvl="0" indent="-20066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408" name="Google Shape;408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409" name="Google Shape;409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410" name="Google Shape;410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411" name="Google Shape;411;p4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727511" y="141713"/>
            <a:ext cx="8736977" cy="657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5"/>
          <p:cNvSpPr txBox="1"/>
          <p:nvPr>
            <p:ph type="title"/>
          </p:nvPr>
        </p:nvSpPr>
        <p:spPr>
          <a:xfrm>
            <a:off x="462151" y="666984"/>
            <a:ext cx="3672970" cy="212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 panose="020B0502020104020203"/>
              <a:buNone/>
            </a:pPr>
            <a:r>
              <a:rPr lang="en-US"/>
              <a:t>THANK YOU</a:t>
            </a:r>
            <a:endParaRPr lang="en-US"/>
          </a:p>
        </p:txBody>
      </p:sp>
      <p:sp>
        <p:nvSpPr>
          <p:cNvPr id="418" name="Google Shape;418;p45"/>
          <p:cNvSpPr txBox="1"/>
          <p:nvPr>
            <p:ph type="body" idx="1"/>
          </p:nvPr>
        </p:nvSpPr>
        <p:spPr>
          <a:xfrm>
            <a:off x="283029" y="2993571"/>
            <a:ext cx="3852092" cy="336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Nandini Gopalakrishnan 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nandini.gopalakrishnan98@gmail.com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19" name="Google Shape;419;p45" descr="A group of people giving each other a high five"/>
          <p:cNvPicPr preferRelativeResize="0"/>
          <p:nvPr>
            <p:ph type="pic" idx="2"/>
          </p:nvPr>
        </p:nvPicPr>
        <p:blipFill rotWithShape="1">
          <a:blip r:embed="rId1"/>
          <a:srcRect l="6094" r="6095"/>
          <a:stretch>
            <a:fillRect/>
          </a:stretch>
        </p:blipFill>
        <p:spPr>
          <a:xfrm>
            <a:off x="4231970" y="666985"/>
            <a:ext cx="7497880" cy="56873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21599</Words>
  <Application>WPS Presentation</Application>
  <PresentationFormat/>
  <Paragraphs>416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8" baseType="lpstr">
      <vt:lpstr>Arial</vt:lpstr>
      <vt:lpstr>SimSun</vt:lpstr>
      <vt:lpstr>Wingdings</vt:lpstr>
      <vt:lpstr>Arial</vt:lpstr>
      <vt:lpstr>Gill Sans</vt:lpstr>
      <vt:lpstr>Noto Sans Symbols</vt:lpstr>
      <vt:lpstr>Segoe Print</vt:lpstr>
      <vt:lpstr>Calibri</vt:lpstr>
      <vt:lpstr>Microsoft YaHei</vt:lpstr>
      <vt:lpstr>Arial Unicode MS</vt:lpstr>
      <vt:lpstr>DividendVTI</vt:lpstr>
      <vt:lpstr>HOSPITAL PATIENT FLOW &amp; MEDICAL SERVICES ANALYTICS</vt:lpstr>
      <vt:lpstr>Problem Statement</vt:lpstr>
      <vt:lpstr>Data Cleaning and Preparation</vt:lpstr>
      <vt:lpstr>A. BASIC AGGREGATIONS</vt:lpstr>
      <vt:lpstr>1. Calculate the number of admissions per department per month.</vt:lpstr>
      <vt:lpstr>PowerPoint 演示文稿</vt:lpstr>
      <vt:lpstr>1. Calculate the number of admissions per department per month.</vt:lpstr>
      <vt:lpstr>2. Find the average treatment cost per department.</vt:lpstr>
      <vt:lpstr>B. JOIN OPERATIONS</vt:lpstr>
      <vt:lpstr>1. Join admissions with doctors to identify top performing doctors by department.</vt:lpstr>
      <vt:lpstr>1. Join admissions with doctors to identify top performing doctors by department.</vt:lpstr>
      <vt:lpstr>2. Join treatments with patient data to evaluate recovery rate by age group.</vt:lpstr>
      <vt:lpstr>2. Join treatments with patient data to evaluate recovery rate by age group.</vt:lpstr>
      <vt:lpstr>C. WINDOW FUNCTIONS</vt:lpstr>
      <vt:lpstr>1. Calculate moving average of daily admissions (7-day MA).</vt:lpstr>
      <vt:lpstr>1. Calculate moving average of daily admissions (7-day MA).</vt:lpstr>
      <vt:lpstr>1. Calculate moving average of daily admissions (7-day MA).</vt:lpstr>
      <vt:lpstr>2. Rank doctors by number of successful treatments per month.</vt:lpstr>
      <vt:lpstr>2. Rank doctors by number of successful treatments per month.</vt:lpstr>
      <vt:lpstr>D. PERCENTILES AND MEDIAN</vt:lpstr>
      <vt:lpstr>1. Calculate 25th, 50th, and 75th percentile of treatment costs per treatment type.</vt:lpstr>
      <vt:lpstr>2. Find the median length of stay per department.</vt:lpstr>
      <vt:lpstr>2. Find the median length of stay per department.</vt:lpstr>
      <vt:lpstr>E. GROUPING AND CASE STATEMENTS</vt:lpstr>
      <vt:lpstr>1. Group patients into 'High-Risk', 'Moderate-Risk’, and 'Low-Risk' based on comorbidity count.</vt:lpstr>
      <vt:lpstr>1. Group patients into 'High-Risk', 'Moderate-Risk’, and 'Low-Risk' based on comorbidity count.</vt:lpstr>
      <vt:lpstr>2. Find admission trends by weekday and weekend.</vt:lpstr>
      <vt:lpstr>2. Find admission trends by weekday and weekend.</vt:lpstr>
      <vt:lpstr>F. COMPLEX JOINS AND SUBQUERIES</vt:lpstr>
      <vt:lpstr>1. Find doctors whose patients had recovery rate above the departmental average.</vt:lpstr>
      <vt:lpstr>1. Find doctors whose patients had recovery rate above the departmental average.</vt:lpstr>
      <vt:lpstr>2. Identify patients who visited more than 3 departments in a year.</vt:lpstr>
      <vt:lpstr>2. Identify patients who visited more than 3 departments in a year.</vt:lpstr>
      <vt:lpstr>G. DATE FUNCTIONS AND YOY</vt:lpstr>
      <vt:lpstr>1. Calculate the year-over-year change in total treatments administered.</vt:lpstr>
      <vt:lpstr>1. Calculate the year-over-year change in total treatments administered.</vt:lpstr>
      <vt:lpstr>2. Find the month with the highest treatment cost.</vt:lpstr>
      <vt:lpstr>2. Find the month with the highest treatment cost.</vt:lpstr>
      <vt:lpstr>H. RETENTION AND FOLLOW-UP ANALYSIS</vt:lpstr>
      <vt:lpstr>1. Find patients readmitted within 30 days of discharge.</vt:lpstr>
      <vt:lpstr>1. Find patients readmitted within 30 days of discharge.</vt:lpstr>
      <vt:lpstr>1. Find patients readmitted within 30 days of discharge.</vt:lpstr>
      <vt:lpstr>2. Calculate average interval between admissions for chronic patients.</vt:lpstr>
      <vt:lpstr>2. Calculate average interval between admissions for chronic patients.</vt:lpstr>
      <vt:lpstr>2. Calculate average interval between admissions for chronic patients.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PATIENT FLOW &amp; MEDICAL SERVICES ANALYTICS</dc:title>
  <dc:creator>Nandini Gopalakrishnan</dc:creator>
  <cp:lastModifiedBy>NGK</cp:lastModifiedBy>
  <cp:revision>1</cp:revision>
  <dcterms:created xsi:type="dcterms:W3CDTF">2026-04-09T09:00:21Z</dcterms:created>
  <dcterms:modified xsi:type="dcterms:W3CDTF">2026-04-09T09:00:22Z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96A37EEF89A24E0CB772762274F88EC3_12</vt:lpwstr>
  </property>
  <property fmtid="{D5CDD505-2E9C-101B-9397-08002B2CF9AE}" pid="4" name="KSOProductBuildVer">
    <vt:lpwstr>1033-12.2.0.23196</vt:lpwstr>
  </property>
</Properties>
</file>